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012" y="2622202"/>
            <a:ext cx="36099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0809" y="3146077"/>
            <a:ext cx="3050381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Plus Jakarta Sans"/>
              </a:rPr>
              <a:t>FinWise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8875" y="3816548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Next-Generation Personal Finance Intelligence &amp; Real-Time Advisory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0686" y="2419350"/>
            <a:ext cx="5010626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147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Empowering individuals with deterministic financial projection engines coupled with LLM-based intelligent wealth storytelling.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7671"/>
            <a:ext cx="5324475" cy="19770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97671"/>
            <a:ext cx="5324475" cy="197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40571"/>
            <a:ext cx="487060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Deterministic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40621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Combines exact numerical forecasting algorithms with scenario models, eliminating hallucinated calculations and delivering precise cash flow trajectories.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0571"/>
            <a:ext cx="487060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Intelligent Narratives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40621"/>
            <a:ext cx="4638675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Leverages LLM reasoning via LangChain &amp; Gemini API to translate complex numerical projections into actionable, plain-English financial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Core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1921"/>
            <a:ext cx="3486150" cy="2548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511921"/>
            <a:ext cx="3486150" cy="2548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511921"/>
            <a:ext cx="3486150" cy="25485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807196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Cash Flow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Automated projections of net cash flow, savings rate, and growth trajectory over custom time horizons.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80719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Risk &amp; Health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Multidimensional scoring based on emergency reserves, debt-to-income ratios, and savings stability.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80719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473946"/>
            <a:ext cx="30403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Advisory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873996"/>
            <a:ext cx="28956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Context-aware AI financial planner answering user queries using live cash flow parameters.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2931021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2025" y="293102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5350" y="2931021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Key Platform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0645" y="2419350"/>
            <a:ext cx="5670708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1475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Modular end-to-end stack built for scalability, computational precision, and seamless user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694979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095029"/>
            <a:ext cx="53244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FinWise decouples numerical computations from narrative generation: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727251"/>
            <a:ext cx="53244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1. User inputs financial data into the Streamlit interface.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2. Deterministic Engine computes health metrics &amp; cash flows.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3. LangChain context-builder constructs prompt payloads.</a:t>
            </a:r>
            <a:r>
              <a:t>
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4. Gemini API synthesizes personalized advice.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0542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Architecture &amp; Data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51857"/>
            <a:ext cx="5324475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285357"/>
            <a:ext cx="53244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F8FAFC"/>
                </a:solidFill>
                <a:latin typeface="Inter SemiBold"/>
              </a:rPr>
              <a:t>Health Index Engine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011090"/>
            <a:ext cx="55906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Plus Jakarta Sans SemiBold"/>
              </a:rPr>
              <a:t>Algorithmic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11140"/>
            <a:ext cx="532447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94A3B8"/>
                </a:solidFill>
                <a:latin typeface="Inter"/>
              </a:rPr>
              <a:t>FinWise calculates a weighted composite score evaluating liquidity depth, debt burden ratio, discretionary capital allocation, and investment readiness. Users receive real-time updates as financial inputs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Financial Health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0150"/>
            <a:ext cx="1102995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742557"/>
            <a:ext cx="11029950" cy="25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1" u="none">
                <a:solidFill>
                  <a:srgbClr val="94A3B8"/>
                </a:solidFill>
                <a:latin typeface="Inter"/>
              </a:rPr>
              <a:t>Simulated 5-year accumulated wealth potential comparing unmanaged cash flows vs. AI-optimized advisory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Cash Flow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2237779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3125" y="2409229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LLM Orchestration: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Powered by LangChain pipeline chains for structured prompt execution and memory retention.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" y="3270051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3125" y="3441501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Google Gemini API Integration: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High-speed inferencing for contextual narrative generation and dynamic advice customization.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1625" y="4302323"/>
            <a:ext cx="9048750" cy="879871"/>
          </a:xfrm>
          <a:prstGeom prst="roundRect">
            <a:avLst>
              <a:gd name="adj" fmla="val 1082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3125" y="4473773"/>
            <a:ext cx="8286750" cy="536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F8FAFC"/>
                </a:solidFill>
                <a:latin typeface="Inter SemiBold"/>
              </a:rPr>
              <a:t>Financial Guardrails:</a:t>
            </a:r>
            <a:r>
              <a:rPr b="0" sz="1275" i="0" u="none">
                <a:solidFill>
                  <a:srgbClr val="94A3B8"/>
                </a:solidFill>
                <a:latin typeface="Inter"/>
              </a:rPr>
              <a:t> Pre-prompt constraints ensure responses stay focused on budgeting, debt management, and realistic savings goals.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625" y="3108126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1625" y="4140398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71625" y="5172670"/>
            <a:ext cx="9048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43304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3465314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497585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AI Advisory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24312"/>
            <a:ext cx="2536775" cy="10266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308175"/>
            <a:ext cx="2536775" cy="1239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24312"/>
            <a:ext cx="2536775" cy="10266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521446"/>
            <a:ext cx="2536775" cy="10266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767137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6" y="418623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1: Core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62462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Mathematical cash-flow model and scoring logic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470100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2: Streamlit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746325"/>
            <a:ext cx="22129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Interactive web dashboard development and visualization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186237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3: 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462462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LangChain orchestration &amp; Gemini API narrative synthesis.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683371"/>
            <a:ext cx="232357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10B981"/>
                </a:solidFill>
                <a:latin typeface="Plus Jakarta Sans SemiBold"/>
              </a:rPr>
              <a:t>Phase 4: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2959596"/>
            <a:ext cx="22129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Full optimization, edge testing, and public release.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Project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63687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4696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25704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56713" y="37004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348210"/>
          <a:ext cx="11010898" cy="2875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71154"/>
                <a:gridCol w="2731144"/>
                <a:gridCol w="2546598"/>
                <a:gridCol w="3162002"/>
              </a:tblGrid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Capability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Traditional Calculators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Generic AI Chatbots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FinWise 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Math 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Hallucination Risk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Deterministic Math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Natural Explanations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Personalized Narratives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Scenario Intelligence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Static Formulas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Unstructured Advice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Contextual AI Advisory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  <a:tr h="575194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Real-time UI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Basic Tables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Text Output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94A3B8"/>
                          </a:solidFill>
                          <a:latin typeface="Inter"/>
                        </a:rPr>
                        <a:t>Dynamic Visual 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90550" y="2921496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61704" y="2921496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92849" y="2921496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39447" y="2921496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494782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1704" y="3494782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2849" y="3494782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39447" y="3494782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0550" y="4068067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61704" y="4068067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2849" y="4068067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39447" y="4068067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0550" y="4641353"/>
            <a:ext cx="257115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1704" y="4641353"/>
            <a:ext cx="27311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2849" y="4641353"/>
            <a:ext cx="254659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9447" y="4641353"/>
            <a:ext cx="316200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49" y="3121521"/>
            <a:ext cx="1238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694807"/>
            <a:ext cx="1428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121521"/>
            <a:ext cx="1428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49" y="3694807"/>
            <a:ext cx="142875" cy="1619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204" y="3121521"/>
            <a:ext cx="142875" cy="1619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4" y="3694807"/>
            <a:ext cx="12382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204" y="3121521"/>
            <a:ext cx="14287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49" y="3121521"/>
            <a:ext cx="12382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121521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204" y="3694807"/>
            <a:ext cx="12382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49" y="3694807"/>
            <a:ext cx="142875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947" y="3694807"/>
            <a:ext cx="142875" cy="1619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Feature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485775"/>
            <a:ext cx="11581447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1504950"/>
            <a:ext cx="11029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Thank you for exploring FinWise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221110"/>
            <a:ext cx="110299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Plus Jakarta Sans SemiBold"/>
              </a:rPr>
              <a:t>FinWise AI Engine • Intelligent Personal Wealth Ecosystem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48062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442394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https://cdn.prod.website-files.com/624717c641bda0f076a77654/66fd3becddda58a1d7260b53_AD_4nXeLlX2FAGyfy_mfiy6yk8t8tGRM0xvxmVgQJISwRYvqdOqreKCdTZlhT6urWRQ1F9K3R6WlibTqkyDQsh5LvPEwl6a8-HId4w2QSlftz9dR_bQH0xvyrFKVI2kC-2ybu2_qY-I-AKIBFNPDg1I5VLQ0GLFD.jpeg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3886200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www.zendata.dev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